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1800" b="0" i="0" u="none" strike="noStrike">
                <a:solidFill>
                  <a:srgbClr val="000000"/>
                </a:solidFill>
                <a:latin typeface="Arial"/>
              </a:rPr>
              <a:t>Mean Absolute Error by Model (lower =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8BB4B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5FE-4CC5-9BEA-E5469DE801C9}"/>
              </c:ext>
            </c:extLst>
          </c:dPt>
          <c:dPt>
            <c:idx val="1"/>
            <c:invertIfNegative val="0"/>
            <c:bubble3D val="0"/>
            <c:spPr>
              <a:solidFill>
                <a:srgbClr val="14A9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5FE-4CC5-9BEA-E5469DE801C9}"/>
              </c:ext>
            </c:extLst>
          </c:dPt>
          <c:dPt>
            <c:idx val="2"/>
            <c:invertIfNegative val="0"/>
            <c:bubble3D val="0"/>
            <c:spPr>
              <a:solidFill>
                <a:srgbClr val="82CFC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5FE-4CC5-9BEA-E5469DE801C9}"/>
              </c:ext>
            </c:extLst>
          </c:dPt>
          <c:dPt>
            <c:idx val="3"/>
            <c:invertIfNegative val="0"/>
            <c:bubble3D val="0"/>
            <c:spPr>
              <a:solidFill>
                <a:srgbClr val="C0C0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5FE-4CC5-9BEA-E5469DE801C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3D3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Linear Reg</c:v>
                </c:pt>
                <c:pt idx="1">
                  <c:v>Random Forest</c:v>
                </c:pt>
                <c:pt idx="2">
                  <c:v>XGBoost</c:v>
                </c:pt>
                <c:pt idx="3">
                  <c:v>CNN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17.899999999999999</c:v>
                </c:pt>
                <c:pt idx="1">
                  <c:v>7.9</c:v>
                </c:pt>
                <c:pt idx="2">
                  <c:v>7.96</c:v>
                </c:pt>
                <c:pt idx="3">
                  <c:v>11.08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5FE-4CC5-9BEA-E5469DE801C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A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FF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2309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yourself, your project title, and the company context. Mention this is a real Omani business with 33+ years of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Briefly explain the Retail/Agri AI domain. The business is in Oman — instructor-approved deviation from UAE context. Mention market size and why this sector is ripe for AI adoption.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daily purchasing dilemma. Emphasize these are real consequences for a small business. The business buys from Oman Flour Mills expecting payment on purchase — so every bag ordered without a buyer is a financial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McKinsey 2024 survey showing 65% of retail companies adopted AI for demand forecasting. Mention Amazon Chronos as the frontier. Explain why this project uses Random Forest — interpretability and dataset size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explains why the project builds its own solution. Commercial platforms are inaccessible to a small Muscat distributor. Emphasize the unique Hijri + livestock features as genuine novelty.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challenge briefly. Highlight the OCR pipeline as a novel upstream engineering contribution. Stress the Hijri calendar as a domain-specific requirement not found in generic retail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5-stage pipeline. Emphasize that the OCR stage was upstream data engineering — not a typical ML project starting point. Feature count of 121 reflects the complexity of capturing Oman-specific demand drivers.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full data → prediction pipeline. Highlight that scikit-learn Pipeline handles OHE + median imputation + model in a single object — ensuring no data leakage. Expanding window CV is appropriate because sales is a time series.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two validation approaches were used deliberately. Train/test split was a quick check; the expanding window CV is the reliable one for time-series because it respects temporal ordering and tests across multiple seasonal windows. The CNN used the same split but required a windowed sequence format. Stress that build_pipeline() is cloned per fold to prevent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4-model comparison. RF beats LR by 56% in MAE. XGBoost is similar but less interpretable for non-technical business owners. CNN underperformed because the dataset is tabular and medium-sized.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6 contributions are what makes this project more than a homework exercise. Emphasize the real-world data collection and the Hijri calendar integration — these are genuine domain innovations.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limitations — the rubric specifically scores this. Key insight: Sales != demand (stock-constrained). Dataset stopping mid-July limits confidence in full annual cycle predictions. MAPE instability is a known issue with zero-inflated demand.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clear path forward. Mention Foundation Models as the next logical evolution once dataset size grows. Stress that AI should augment — not replace — the experienced distributor's judgment.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strong. Reiterate the real-world impact: this is a working prototype for an actual Muscat business. Invite questions on the technical approach, Hijri calendar features, or model selection rationale.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D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256032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8D8B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CSCI323 Modern Artificial Intelligence  ·  Spring 2026  ·  UOWD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Next Day Sales Forecasting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14A98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for an Agro-Animal Feed &amp; Flour Distribution Business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0" y="2697480"/>
            <a:ext cx="36576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77240" y="292608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0D7377">
              <a:alpha val="70000"/>
            </a:srgbClr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8BB4B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32735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Bithin Radhakrishnan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989320" y="292608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0D7377">
              <a:alpha val="70000"/>
            </a:srgbClr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989320" y="30175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8BB4B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Lab session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989320" y="32735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Thursday 0830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0" y="4114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BB4B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in business  ·  Demand Forecasting 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3D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&amp; DOMAIN 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0" y="10972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B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$9.8B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325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Agri-Feed Market (2024)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63240" y="86868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63240" y="9144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8.3%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063240" y="1325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projected 2024–2029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92024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19659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50+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0040" y="2377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across livestock, flour &amp; poultry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63240" y="192024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063240" y="19659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 yrs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063240" y="2377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established in Muscat, Oman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89320" y="804672"/>
            <a:ext cx="2834640" cy="3840480"/>
          </a:xfrm>
          <a:prstGeom prst="roundRect">
            <a:avLst>
              <a:gd name="adj" fmla="val 3226"/>
            </a:avLst>
          </a:prstGeom>
          <a:solidFill>
            <a:srgbClr val="0F3D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80760" y="8961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A9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Sector Context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80760" y="1298448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Agro-animal feed &amp; flour distribution in Muscat, Oman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080760" y="178308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across Livestock, Poultry, Food &amp; Agriculture sectors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80760" y="2267712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to Oman Flour Mills (subsidiary of Oman Food Holding)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080760" y="2752344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ledger-based operations — no digital forecasting tools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080760" y="3236976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UAE/GCC region: high AI adoption potential in supply chain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080760" y="3721608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demand is critical for SME cash-flow stability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3D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0" y="10972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B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960120"/>
          </a:xfrm>
          <a:prstGeom prst="roundRect">
            <a:avLst>
              <a:gd name="adj" fmla="val 7619"/>
            </a:avLst>
          </a:prstGeom>
          <a:solidFill>
            <a:srgbClr val="E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822960"/>
            <a:ext cx="8138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distribution business buying daily from Oman Flour Mills must commit to purchase orders before knowing actual customer demand — creating costly over/understocking risks every single day."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" y="1920240"/>
            <a:ext cx="2743200" cy="2011680"/>
          </a:xfrm>
          <a:prstGeom prst="roundRect">
            <a:avLst>
              <a:gd name="adj" fmla="val 4091"/>
            </a:avLst>
          </a:prstGeom>
          <a:solidFill>
            <a:srgbClr val="F5F0E8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2743200" cy="2286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21762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Understocking Risk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dissatisfaction when popular items sell out; lost revenue and trust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920240"/>
            <a:ext cx="2743200" cy="2011680"/>
          </a:xfrm>
          <a:prstGeom prst="roundRect">
            <a:avLst>
              <a:gd name="adj" fmla="val 4091"/>
            </a:avLst>
          </a:prstGeom>
          <a:solidFill>
            <a:srgbClr val="F5F0E8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1920240"/>
            <a:ext cx="2743200" cy="2286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0" y="21762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Overstocking Risk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60604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tied up in slow-moving inventory; potential spoilage losses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1920240"/>
            <a:ext cx="2743200" cy="2011680"/>
          </a:xfrm>
          <a:prstGeom prst="roundRect">
            <a:avLst>
              <a:gd name="adj" fmla="val 4091"/>
            </a:avLst>
          </a:prstGeom>
          <a:solidFill>
            <a:srgbClr val="F5F0E8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80760" y="1920240"/>
            <a:ext cx="2743200" cy="22860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80760" y="21762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Complexity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260604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products, seasonal Eid spikes, weather effects, Hijri calendar — all manual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4096512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0F3D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4142232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Metric: Predict next-day per-product sales (OUT units) using historical patterns, seasonal signals, Hijri calendar, and external demand factors to support daily purchase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3D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STATE-OF-THE-ART: AI IN RETAIL DEMAND FORECASTING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0" y="10972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B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91640" y="8686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ARIMA / Holt-Winters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691640" y="120700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time-series; still used for baseline comparisons in retail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764792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764792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196596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Era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91640" y="18288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/ XGBoost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691640" y="216712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structured data; handles mixed feature types &amp; nonlinear demand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724912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724912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292608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91640" y="27889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 / 1D-CNN / Temporal Fusion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691640" y="312724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patterns; effective on large datasets with strong temporal signals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685032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685032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388620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91640" y="37490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 Models (Amazon Chronos)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691640" y="408736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forecasting; pre-trained on billions of time-series points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74320" y="473659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B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literature: McKinsey Global AI Survey 2024 · Chui et al. 2024 · Davenport &amp; Ronanki HBR 2023 · Amazon Chronos (2024)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3D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 &amp; EXISTING SOLUTIONS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0" y="10972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B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 Platforms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114800" cy="731520"/>
          </a:xfrm>
          <a:prstGeom prst="roundRect">
            <a:avLst>
              <a:gd name="adj" fmla="val 8750"/>
            </a:avLst>
          </a:prstGeom>
          <a:solidFill>
            <a:srgbClr val="E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2435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Integrated Business Planning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supply chain AI — requires full ERP setup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048256"/>
            <a:ext cx="4114800" cy="731520"/>
          </a:xfrm>
          <a:prstGeom prst="roundRect">
            <a:avLst>
              <a:gd name="adj" fmla="val 8750"/>
            </a:avLst>
          </a:prstGeom>
          <a:solidFill>
            <a:srgbClr val="E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Einstein Analytics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36829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CRM-based predictions — suited to larger retail chains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907792"/>
            <a:ext cx="4114800" cy="731520"/>
          </a:xfrm>
          <a:prstGeom prst="roundRect">
            <a:avLst>
              <a:gd name="adj" fmla="val 8750"/>
            </a:avLst>
          </a:prstGeom>
          <a:solidFill>
            <a:srgbClr val="E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9626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Forecast / AWS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32278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Cloud-based; demands large structured historical data volumes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767328"/>
            <a:ext cx="4114800" cy="731520"/>
          </a:xfrm>
          <a:prstGeom prst="roundRect">
            <a:avLst>
              <a:gd name="adj" fmla="val 8750"/>
            </a:avLst>
          </a:prstGeom>
          <a:solidFill>
            <a:srgbClr val="E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822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Yonder / Luminate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408736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Retail-focused; real-time demand sensing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777240"/>
            <a:ext cx="4069080" cy="4023360"/>
          </a:xfrm>
          <a:prstGeom prst="roundRect">
            <a:avLst>
              <a:gd name="adj" fmla="val 2273"/>
            </a:avLst>
          </a:prstGeom>
          <a:solidFill>
            <a:srgbClr val="0F3D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8869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Gaps This Project Addresses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137160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commercial tool integrates Hijri calendar &amp; Eid proximity signals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92040" y="1883664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platforms unaffordable for SME distributors in Oman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92040" y="239572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models ignore livestock population as a demand driver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92040" y="290779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Oman-specific weather (rare rainfall, extreme heat) not modelled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92040" y="3419856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ledger → ML pipeline addresses a digitisation gap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92040" y="393192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decision-support — not a black-box automation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3D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CHALLENGES &amp; DOMAIN CONSIDERATIONS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0" y="10972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B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2062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8961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📚 Data in Physical Ledgers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26187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years of handwritten records across 50+ products. Required OCR via Google Gemini Vision API and extensive manual validation.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804672"/>
            <a:ext cx="42062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73752" y="8961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🕌 Islamic Calendar Complexity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73752" y="126187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Ramadan and Eid dates shift each Gregorian year. Demand spikes for Halwa ingredients (wheat) and livestock feed need Hijri-aware features.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176272"/>
            <a:ext cx="42062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2677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☀️ Extreme Climate Effects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" y="263347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Oman summers exceed 45°C; rare rainfall events disrupt logistics. Custom climate_curve and real_rainfall_mm features capture these.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2176272"/>
            <a:ext cx="42062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73752" y="22677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🐄 Livestock Population Dependency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73752" y="263347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 feed demand is driven by actual livestock counts in Oman. Annual NCSI data on goats, sheep, camels, cattle included as features.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547872"/>
            <a:ext cx="42062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8912" y="36393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🔒 Business Confidentiality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" y="400507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commercial data — all sales values zeroed in public version. Ethical handling and no customer PII required.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3547872"/>
            <a:ext cx="42062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73752" y="36393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 Operational Feasibility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73752" y="400507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must run on basic hardware in real-time. Lightweight Random Forest pipeline deployable without GPU infrastructure.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3D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 &amp; METHODOLOGY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0" y="10972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B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54380" y="777240"/>
            <a:ext cx="1417320" cy="1920240"/>
          </a:xfrm>
          <a:prstGeom prst="roundRect">
            <a:avLst>
              <a:gd name="adj" fmla="val 5806"/>
            </a:avLst>
          </a:prstGeom>
          <a:solidFill>
            <a:srgbClr val="0D7377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07008" y="658368"/>
            <a:ext cx="512064" cy="512064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07008" y="658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4380" y="8229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54380" y="1261872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46,601 rows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2023–Jul 2025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products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80844" y="1463040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308860" y="777240"/>
            <a:ext cx="1417320" cy="1920240"/>
          </a:xfrm>
          <a:prstGeom prst="roundRect">
            <a:avLst>
              <a:gd name="adj" fmla="val 5806"/>
            </a:avLst>
          </a:prstGeom>
          <a:solidFill>
            <a:srgbClr val="0D7377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61488" y="658368"/>
            <a:ext cx="512064" cy="512064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61488" y="658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308860" y="8229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OCR &amp; Digitisation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308860" y="1261872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Vision API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extraction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validation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735324" y="1463040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63340" y="777240"/>
            <a:ext cx="1417320" cy="1920240"/>
          </a:xfrm>
          <a:prstGeom prst="roundRect">
            <a:avLst>
              <a:gd name="adj" fmla="val 5806"/>
            </a:avLst>
          </a:prstGeom>
          <a:solidFill>
            <a:srgbClr val="0D7377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315968" y="658368"/>
            <a:ext cx="512064" cy="512064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15968" y="658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63340" y="8229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863340" y="1261872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 features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Lag, rolling,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Hijri, weather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289804" y="1463040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17820" y="777240"/>
            <a:ext cx="1417320" cy="1920240"/>
          </a:xfrm>
          <a:prstGeom prst="roundRect">
            <a:avLst>
              <a:gd name="adj" fmla="val 5806"/>
            </a:avLst>
          </a:prstGeom>
          <a:solidFill>
            <a:srgbClr val="0D7377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870448" y="658368"/>
            <a:ext cx="512064" cy="512064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870448" y="658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17820" y="8229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Training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17820" y="1261872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· RF · XGBoost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CNN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window CV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44284" y="1463040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972300" y="777240"/>
            <a:ext cx="1417320" cy="1920240"/>
          </a:xfrm>
          <a:prstGeom prst="roundRect">
            <a:avLst>
              <a:gd name="adj" fmla="val 5806"/>
            </a:avLst>
          </a:prstGeom>
          <a:solidFill>
            <a:srgbClr val="0D7377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424928" y="658368"/>
            <a:ext cx="512064" cy="512064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424928" y="658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72300" y="8229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972300" y="1261872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+ date input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predicted OUT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order advice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20040" y="285292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— 6 Groups, 121 Columns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0040" y="3273552"/>
            <a:ext cx="2834640" cy="685800"/>
          </a:xfrm>
          <a:prstGeom prst="roundRect">
            <a:avLst>
              <a:gd name="adj" fmla="val 9333"/>
            </a:avLst>
          </a:prstGeom>
          <a:solidFill>
            <a:srgbClr val="E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29768" y="332841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History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29768" y="3584448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out_lag 1/7/14/30 · balance_lag · rolling mean/SD (7d, 30d)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46120" y="3273552"/>
            <a:ext cx="2834640" cy="685800"/>
          </a:xfrm>
          <a:prstGeom prst="roundRect">
            <a:avLst>
              <a:gd name="adj" fmla="val 9333"/>
            </a:avLst>
          </a:prstGeom>
          <a:solidFill>
            <a:srgbClr val="E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355848" y="332841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355848" y="3584448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month/day/year sin·cos · season · day-of-week cyclic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72200" y="3273552"/>
            <a:ext cx="2834640" cy="685800"/>
          </a:xfrm>
          <a:prstGeom prst="roundRect">
            <a:avLst>
              <a:gd name="adj" fmla="val 9333"/>
            </a:avLst>
          </a:prstGeom>
          <a:solidFill>
            <a:srgbClr val="E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281928" y="332841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Islamic Calendar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281928" y="3584448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Hijri year/month/day · Ramadan flag · Eid proximity scores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0040" y="4050792"/>
            <a:ext cx="2834640" cy="685800"/>
          </a:xfrm>
          <a:prstGeom prst="roundRect">
            <a:avLst>
              <a:gd name="adj" fmla="val 9333"/>
            </a:avLst>
          </a:prstGeom>
          <a:solidFill>
            <a:srgbClr val="E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29768" y="410565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29768" y="4361688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is_friday · is_gap · discrepancy_flag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46120" y="4050792"/>
            <a:ext cx="2834640" cy="685800"/>
          </a:xfrm>
          <a:prstGeom prst="roundRect">
            <a:avLst>
              <a:gd name="adj" fmla="val 9333"/>
            </a:avLst>
          </a:prstGeom>
          <a:solidFill>
            <a:srgbClr val="E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355848" y="410565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Demand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355848" y="4361688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temperature · rainfall · poultry/cattle/camel/sheep/goat counts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172200" y="4050792"/>
            <a:ext cx="2834640" cy="685800"/>
          </a:xfrm>
          <a:prstGeom prst="roundRect">
            <a:avLst>
              <a:gd name="adj" fmla="val 9333"/>
            </a:avLst>
          </a:prstGeom>
          <a:solidFill>
            <a:srgbClr val="E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281928" y="410565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Identity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281928" y="4361688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(50 OHE) · Product_Sector · season_name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3D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0" y="10972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B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023360" cy="548640"/>
          </a:xfrm>
          <a:prstGeom prst="roundRect">
            <a:avLst>
              <a:gd name="adj" fmla="val 11667"/>
            </a:avLst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Ledger Scans (JPEG)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325880"/>
            <a:ext cx="4023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435608"/>
            <a:ext cx="4023360" cy="548640"/>
          </a:xfrm>
          <a:prstGeom prst="roundRect">
            <a:avLst>
              <a:gd name="adj" fmla="val 11667"/>
            </a:avLst>
          </a:prstGeom>
          <a:solidFill>
            <a:srgbClr val="D48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43560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Vision OCR → CSV Rows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984248"/>
            <a:ext cx="4023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093976"/>
            <a:ext cx="4023360" cy="548640"/>
          </a:xfrm>
          <a:prstGeom prst="roundRect">
            <a:avLst>
              <a:gd name="adj" fmla="val 11667"/>
            </a:avLst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209397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Preprocessing Pipeline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2642616"/>
            <a:ext cx="4023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752344"/>
            <a:ext cx="4023360" cy="548640"/>
          </a:xfrm>
          <a:prstGeom prst="roundRect">
            <a:avLst>
              <a:gd name="adj" fmla="val 11667"/>
            </a:avLst>
          </a:prstGeom>
          <a:solidFill>
            <a:srgbClr val="0A88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275234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(121 cols)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3300984"/>
            <a:ext cx="4023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410712"/>
            <a:ext cx="4023360" cy="548640"/>
          </a:xfrm>
          <a:prstGeom prst="roundRect">
            <a:avLst>
              <a:gd name="adj" fmla="val 11667"/>
            </a:avLst>
          </a:prstGeom>
          <a:solidFill>
            <a:srgbClr val="0F3D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341071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Pipeline: OHE + Imputer + RF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3959352"/>
            <a:ext cx="4023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4069080"/>
            <a:ext cx="4023360" cy="548640"/>
          </a:xfrm>
          <a:prstGeom prst="roundRect">
            <a:avLst>
              <a:gd name="adj" fmla="val 11667"/>
            </a:avLst>
          </a:prstGeom>
          <a:solidFill>
            <a:srgbClr val="051F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40690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Engine + Decision Output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777240"/>
            <a:ext cx="4160520" cy="4041648"/>
          </a:xfrm>
          <a:prstGeom prst="roundRect">
            <a:avLst>
              <a:gd name="adj" fmla="val 2262"/>
            </a:avLst>
          </a:prstGeom>
          <a:solidFill>
            <a:srgbClr val="0F3D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0600" y="88696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1316736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</a:t>
            </a: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Google Colab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00600" y="1746504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OCR: </a:t>
            </a: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Vision API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00600" y="217627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NumPy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00600" y="260604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Calendar: </a:t>
            </a: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hijri-converter (PyPI)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00600" y="303580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Library: </a:t>
            </a: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· XGBoost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00600" y="3465576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</a:t>
            </a: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LinearReg · RF · XGB · CNN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00600" y="3895344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</a:t>
            </a: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Window Time-series CV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00600" y="432511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Model: </a:t>
            </a: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RandomForestRegressor(n=300, depth=14)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3D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STRATEGY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0" y="10972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B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148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14800" cy="384048"/>
          </a:xfrm>
          <a:prstGeom prst="roundRect">
            <a:avLst>
              <a:gd name="adj" fmla="val 21429"/>
            </a:avLst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7772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Train / Test Split  (80 / 20)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261872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2618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 80%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2023 → Apr 2025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017520" y="1261872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17520" y="12618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 20%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May–Jul 2025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38912" y="16916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00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sanity check — chronological split prevents future leakage into training.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996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</a:t>
            </a:r>
            <a:r>
              <a:rPr lang="en-US" sz="100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evaluation window — doesn't test generalisation across seasons or Eid cycles.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743200"/>
            <a:ext cx="4114800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743200"/>
            <a:ext cx="4114800" cy="384048"/>
          </a:xfrm>
          <a:prstGeom prst="roundRect">
            <a:avLst>
              <a:gd name="adj" fmla="val 21429"/>
            </a:avLst>
          </a:prstGeom>
          <a:solidFill>
            <a:srgbClr val="0F3D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7432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A9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Expanding Window CV  (n_splits = 3)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218688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2186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(fold 1)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399032" y="3218688"/>
            <a:ext cx="530352" cy="274320"/>
          </a:xfrm>
          <a:prstGeom prst="roundRect">
            <a:avLst>
              <a:gd name="adj" fmla="val 13333"/>
            </a:avLst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399032" y="321868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02920" y="3621024"/>
            <a:ext cx="1417320" cy="274320"/>
          </a:xfrm>
          <a:prstGeom prst="roundRect">
            <a:avLst>
              <a:gd name="adj" fmla="val 13333"/>
            </a:avLst>
          </a:prstGeom>
          <a:solidFill>
            <a:srgbClr val="0A88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62102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(fold 2)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993392" y="3621024"/>
            <a:ext cx="530352" cy="274320"/>
          </a:xfrm>
          <a:prstGeom prst="roundRect">
            <a:avLst>
              <a:gd name="adj" fmla="val 13333"/>
            </a:avLst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993392" y="3621024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02920" y="4023360"/>
            <a:ext cx="2011680" cy="274320"/>
          </a:xfrm>
          <a:prstGeom prst="roundRect">
            <a:avLst>
              <a:gd name="adj" fmla="val 13333"/>
            </a:avLst>
          </a:prstGeom>
          <a:solidFill>
            <a:srgbClr val="065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4023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(fold 3)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587752" y="4023360"/>
            <a:ext cx="530352" cy="274320"/>
          </a:xfrm>
          <a:prstGeom prst="roundRect">
            <a:avLst>
              <a:gd name="adj" fmla="val 13333"/>
            </a:avLst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587752" y="402336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38912" y="44074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benefit: </a:t>
            </a:r>
            <a:r>
              <a:rPr lang="en-US" sz="100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fold trains only on past data. Expanding window keeps all history — critical for Eid &amp; seasonal patterns that repeat across years.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777240"/>
            <a:ext cx="416052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63440" y="777240"/>
            <a:ext cx="4160520" cy="384048"/>
          </a:xfrm>
          <a:prstGeom prst="roundRect">
            <a:avLst>
              <a:gd name="adj" fmla="val 21429"/>
            </a:avLst>
          </a:prstGeom>
          <a:solidFill>
            <a:srgbClr val="7B5E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63440" y="7772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CNN — Sequential Window Approach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00600" y="123444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input window of past N timesteps fed as sequence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0600" y="155448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Conv layers learn local temporal patterns across days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00600" y="187452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same train/test split for fair comparison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00600" y="219456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00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outperform RF — tabular dataset too small for CNN to excel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2743200"/>
            <a:ext cx="4160520" cy="2084832"/>
          </a:xfrm>
          <a:prstGeom prst="roundRect">
            <a:avLst>
              <a:gd name="adj" fmla="val 3947"/>
            </a:avLst>
          </a:prstGeom>
          <a:solidFill>
            <a:srgbClr val="0F3D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00600" y="283464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 Used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800600" y="32735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A9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00600" y="345643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8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|actual − predicted|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40680" y="326440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 — stable &amp; interpretable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00600" y="378561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A9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00600" y="3968496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8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√(mean of squared errors)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440680" y="377647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Penalises large prediction errors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00600" y="4297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A9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800600" y="4480560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8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|error / actual| × 100%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440680" y="4288536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but unstable near zero-sales days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3D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&amp; PERFORMANCE METRICS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0" y="10972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B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749808"/>
          <a:ext cx="5029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532120" y="7772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Summary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2120" y="1188720"/>
          <a:ext cx="3291840" cy="18288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532120" y="3246120"/>
            <a:ext cx="3291840" cy="960120"/>
          </a:xfrm>
          <a:prstGeom prst="roundRect">
            <a:avLst>
              <a:gd name="adj" fmla="val 8571"/>
            </a:avLst>
          </a:prstGeom>
          <a:solidFill>
            <a:srgbClr val="E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5623560" y="331012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Random Forest Selected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5623560" y="363931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MAE with high interpretability for business stakeholders. XGBoost comparable but less explainable.</a:t>
            </a:r>
            <a:endParaRPr lang="en-US" sz="950" dirty="0"/>
          </a:p>
        </p:txBody>
      </p:sp>
      <p:sp>
        <p:nvSpPr>
          <p:cNvPr id="7" name="Shape 7"/>
          <p:cNvSpPr/>
          <p:nvPr/>
        </p:nvSpPr>
        <p:spPr>
          <a:xfrm>
            <a:off x="274320" y="3675888"/>
            <a:ext cx="5029200" cy="717804"/>
          </a:xfrm>
          <a:prstGeom prst="roundRect">
            <a:avLst>
              <a:gd name="adj" fmla="val 10769"/>
            </a:avLst>
          </a:prstGeom>
          <a:solidFill>
            <a:srgbClr val="0F3D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11480" y="3778758"/>
            <a:ext cx="4754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5F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MAPE reported for completeness, but MAE/RMSE are primary metrics — MAPE unstable when actual sales approach zero (common in low-demand items).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key modelling decision was to avoid same-day leakage while preserving useful operational context.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3D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CONTRIBUTIONS &amp; INNOVATIONS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0" y="10972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B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25196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38912" y="941832"/>
            <a:ext cx="512064" cy="512064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941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8992" y="896112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Digitisation Pipeline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38912" y="1463040"/>
            <a:ext cx="3950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ML-ready dataset from 2.5 years of handwritten Omani ledgers. Gemini Vision OCR + arithmetic validation. No prior digital record existed.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804672"/>
            <a:ext cx="425196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919472" y="941832"/>
            <a:ext cx="512064" cy="512064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19472" y="941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59552" y="896112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Hijri-Aware Demand Forecasting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19472" y="1463040"/>
            <a:ext cx="3950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Hijri year/month/day + cyclic encodings + Eid/Ramadan proximity windows capture Islamic seasonal demand patterns missed by all generic models.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194560"/>
            <a:ext cx="425196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38912" y="2331720"/>
            <a:ext cx="512064" cy="512064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8912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78992" y="2286000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Livestock-Driven Demand Signals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38912" y="2852928"/>
            <a:ext cx="3950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NCSI livestock counts (goats, sheep, camels, cattle) included as demand drivers — a domain-specific innovation absent from retail AI literature.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194560"/>
            <a:ext cx="425196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919472" y="2331720"/>
            <a:ext cx="512064" cy="512064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19472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59552" y="2286000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Supply-Constrained Inference Logic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19472" y="2852928"/>
            <a:ext cx="3950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take IN stock as input, respecting TOTAL = Open + IN constraint. Outputs practical purchase recommendation, not just a sales number.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584448"/>
            <a:ext cx="425196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38912" y="3721608"/>
            <a:ext cx="512064" cy="512064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38912" y="3721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78992" y="3675888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Multi-Product Global Model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38912" y="4242816"/>
            <a:ext cx="3950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RF model trained across all 50 products simultaneously using OHE + sector identity features — efficient and scalable across the product range.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3584448"/>
            <a:ext cx="425196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919472" y="3721608"/>
            <a:ext cx="512064" cy="512064"/>
          </a:xfrm>
          <a:prstGeom prst="ellipse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19472" y="3721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59552" y="3675888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Decision-Support Workflow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919472" y="4242816"/>
            <a:ext cx="3950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enter item + date + planned IN → model returns predicted OUT + order recommendation. Bridges ML output to daily business action.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3D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CHALLENGES &amp; LESSONS LEARNED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0" y="10972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B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251960" cy="1261872"/>
          </a:xfrm>
          <a:prstGeom prst="roundRect">
            <a:avLst>
              <a:gd name="adj" fmla="val 6522"/>
            </a:avLst>
          </a:prstGeom>
          <a:solidFill>
            <a:srgbClr val="F5F0E8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8961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📖 Data Source Quality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" y="12801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on handwritten ledgers introduced transcription errors. Natural man-made discrepancies in original books preserved for realism.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804672"/>
            <a:ext cx="4251960" cy="1261872"/>
          </a:xfrm>
          <a:prstGeom prst="roundRect">
            <a:avLst>
              <a:gd name="adj" fmla="val 6522"/>
            </a:avLst>
          </a:prstGeom>
          <a:solidFill>
            <a:srgbClr val="F5F0E8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19472" y="8961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📦 Sales ≠ True Demand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19472" y="12801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values are constrained by available stock (TOTAL). When stock is zero, demand is not captured — creating systematic under-measurement.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194560"/>
            <a:ext cx="4251960" cy="1261872"/>
          </a:xfrm>
          <a:prstGeom prst="roundRect">
            <a:avLst>
              <a:gd name="adj" fmla="val 6522"/>
            </a:avLst>
          </a:prstGeom>
          <a:solidFill>
            <a:srgbClr val="F5F0E8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286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📅 Dataset Ends Mid-July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" y="267004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 years of data may not capture all demand patterns. Seasonal cycles only appear 2-3 times — limiting model confidence on rare events.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2194560"/>
            <a:ext cx="4251960" cy="1261872"/>
          </a:xfrm>
          <a:prstGeom prst="roundRect">
            <a:avLst>
              <a:gd name="adj" fmla="val 6522"/>
            </a:avLst>
          </a:prstGeom>
          <a:solidFill>
            <a:srgbClr val="F5F0E8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19472" y="2286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🔢 High MAPE on Zero-Sales Days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19472" y="267004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and holiday rows generate artificially high MAPE (division by near-zero). MAE/RMSE used as primary evaluation metrics instead.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584448"/>
            <a:ext cx="4251960" cy="1261872"/>
          </a:xfrm>
          <a:prstGeom prst="roundRect">
            <a:avLst>
              <a:gd name="adj" fmla="val 6522"/>
            </a:avLst>
          </a:prstGeom>
          <a:solidFill>
            <a:srgbClr val="F5F0E8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8912" y="36758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🏭 Supply Availability Not Modelled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" y="4059936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quantity purchased from Oman Flour Mills depends on their supply constraints — a separate forecasting problem requiring international import data.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584448"/>
            <a:ext cx="4251960" cy="1261872"/>
          </a:xfrm>
          <a:prstGeom prst="roundRect">
            <a:avLst>
              <a:gd name="adj" fmla="val 6522"/>
            </a:avLst>
          </a:prstGeom>
          <a:solidFill>
            <a:srgbClr val="F5F0E8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19472" y="36758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⚙️ No Production Deployment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19472" y="4059936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is a decision-support prototype. Full deployment requires retraining scheduling, monitoring, and integration with business ordering system.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3D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FUTURE WORK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0" y="10972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B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60520" cy="411480"/>
          </a:xfrm>
          <a:prstGeom prst="roundRect">
            <a:avLst>
              <a:gd name="adj" fmla="val 15556"/>
            </a:avLst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Short-Term (0–6 Months)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lightweight dashboard for daily staff use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792224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model retraining as new ledger data comes 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322576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dataset collection — target 5+ years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852928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Per-item specialized models for top 10 products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383280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hyperparameter tuning via Bayesian search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777240"/>
            <a:ext cx="4160520" cy="411480"/>
          </a:xfrm>
          <a:prstGeom prst="roundRect">
            <a:avLst>
              <a:gd name="adj" fmla="val 15556"/>
            </a:avLst>
          </a:prstGeom>
          <a:solidFill>
            <a:srgbClr val="0F3D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09160" y="7772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A9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 (6+ Months)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261872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latent demand (stock-constrained OUT correction)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792224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IN supply availability from Oman Flour Mills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322576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customer order history (PII-anonymised)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852928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Foundation Models (Chronos, TimeGPT) on larger dataset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3383280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of inventory for scenario planning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096512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4133088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Recommendation: Treat the current model as a Decision-Support Tool (not autonomous ordering). Human review mandatory during Eid periods, supply disruptions, and new product introductions.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3D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IMPACT SUMMARY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0D7377">
              <a:alpha val="75000"/>
            </a:srgbClr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2920" y="1901952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improvement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over Linear Regression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0320" y="114300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0D7377">
              <a:alpha val="75000"/>
            </a:srgbClr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0" y="12344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50+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560320" y="1901952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forecasted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 single global model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114300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0D7377">
              <a:alpha val="75000"/>
            </a:srgbClr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17720" y="12344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2.5yr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617720" y="1901952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ledgers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digitised &amp; modelled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675120" y="114300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0D7377">
              <a:alpha val="75000"/>
            </a:srgbClr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75120" y="12344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675120" y="1901952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groups capturing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Oman-specific demand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29718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A9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38328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deliver measurable forecasting advantage even for small Omani distribution businesses operating on physical ledgers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79476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Oman-specific features (Hijri calendar, Eid proximity, livestock counts) are essential — generic retail models would miss these signals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20624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provides the best balance of accuracy and interpretability for this business context and dataset size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61772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demonstrates a complete AI lifecycle: data digitisation → feature engineering → model comparison → decision support deployment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2350</Words>
  <Application>Microsoft Office PowerPoint</Application>
  <PresentationFormat>On-screen Show (16:9)</PresentationFormat>
  <Paragraphs>298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 Day Sales Forecasting – Agro-Animal Feed &amp; Flour Distribution</dc:title>
  <dc:subject>PptxGenJS Presentation</dc:subject>
  <dc:creator>Bithin Radhakrishnan</dc:creator>
  <cp:lastModifiedBy>Bithin Krishna Radhakrishnan</cp:lastModifiedBy>
  <cp:revision>3</cp:revision>
  <dcterms:created xsi:type="dcterms:W3CDTF">2026-06-21T17:50:21Z</dcterms:created>
  <dcterms:modified xsi:type="dcterms:W3CDTF">2026-06-21T18:27:49Z</dcterms:modified>
</cp:coreProperties>
</file>